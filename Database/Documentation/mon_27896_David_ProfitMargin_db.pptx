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1"/>
  </p:notesMasterIdLst>
  <p:handoutMasterIdLst>
    <p:handoutMasterId r:id="rId12"/>
  </p:handoutMasterIdLst>
  <p:sldIdLst>
    <p:sldId id="256" r:id="rId5"/>
    <p:sldId id="262" r:id="rId6"/>
    <p:sldId id="289" r:id="rId7"/>
    <p:sldId id="278"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74" d="100"/>
          <a:sy n="74" d="100"/>
        </p:scale>
        <p:origin x="1042" y="67"/>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27-Nov-25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27-Nov-25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latin typeface="Helvetica" panose="020B0604020202020204" pitchFamily="34" charset="0"/>
                <a:cs typeface="Helvetica" panose="020B0604020202020204" pitchFamily="34" charset="0"/>
              </a:rPr>
              <a:t>Profit Margin Monitoring System</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r>
              <a:rPr lang="en-US" dirty="0">
                <a:latin typeface="Helvetica" panose="020B0604020202020204" pitchFamily="34" charset="0"/>
                <a:cs typeface="Helvetica" panose="020B0604020202020204" pitchFamily="34" charset="0"/>
              </a:rPr>
              <a:t>David Imani Nzeyimana </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normAutofit/>
          </a:bodyPr>
          <a:lstStyle/>
          <a:p>
            <a:r>
              <a:rPr lang="en-US" sz="4000" b="1" dirty="0">
                <a:latin typeface="Helvetica" panose="020B0604020202020204" pitchFamily="34" charset="0"/>
                <a:cs typeface="Helvetica" panose="020B0604020202020204" pitchFamily="34" charset="0"/>
              </a:rPr>
              <a:t>Problem Definition</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659082" y="3008808"/>
            <a:ext cx="8873836" cy="2274327"/>
          </a:xfrm>
        </p:spPr>
        <p:txBody>
          <a:bodyPr>
            <a:normAutofit/>
          </a:bodyPr>
          <a:lstStyle/>
          <a:p>
            <a:r>
              <a:rPr lang="en-US" sz="2000" dirty="0">
                <a:latin typeface="Helvetica" panose="020B0604020202020204" pitchFamily="34" charset="0"/>
                <a:cs typeface="Helvetica" panose="020B0604020202020204" pitchFamily="34" charset="0"/>
              </a:rPr>
              <a:t>The system solves the issue of undetected low profit margins in daily sales. Businesses often lose money because pricing mistakes, excessive discounts, or sudden cost changes reduce margins without being noticed in time.</a:t>
            </a:r>
          </a:p>
        </p:txBody>
      </p:sp>
    </p:spTree>
    <p:extLst>
      <p:ext uri="{BB962C8B-B14F-4D97-AF65-F5344CB8AC3E}">
        <p14:creationId xmlns:p14="http://schemas.microsoft.com/office/powerpoint/2010/main" val="1593920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normAutofit/>
          </a:bodyPr>
          <a:lstStyle/>
          <a:p>
            <a:r>
              <a:rPr lang="en-US" sz="4000" b="1" dirty="0">
                <a:latin typeface="Helvetica" panose="020B0604020202020204" pitchFamily="34" charset="0"/>
                <a:cs typeface="Helvetica" panose="020B0604020202020204" pitchFamily="34" charset="0"/>
              </a:rPr>
              <a:t>Context</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4648200" y="2422619"/>
            <a:ext cx="5815445" cy="2066254"/>
          </a:xfrm>
        </p:spPr>
        <p:txBody>
          <a:bodyPr>
            <a:normAutofit/>
          </a:bodyPr>
          <a:lstStyle/>
          <a:p>
            <a:r>
              <a:rPr lang="en-US" sz="1800" dirty="0">
                <a:latin typeface="Helvetica" panose="020B0604020202020204" pitchFamily="34" charset="0"/>
                <a:cs typeface="Helvetica" panose="020B0604020202020204" pitchFamily="34" charset="0"/>
              </a:rPr>
              <a:t>The system is designed for businesses that record sales inside an Oracle database. It works at the point where sales transactions are entered, checking each sale automatically and generating alerts when the margin is too low.</a:t>
            </a:r>
          </a:p>
        </p:txBody>
      </p:sp>
    </p:spTree>
    <p:extLst>
      <p:ext uri="{BB962C8B-B14F-4D97-AF65-F5344CB8AC3E}">
        <p14:creationId xmlns:p14="http://schemas.microsoft.com/office/powerpoint/2010/main" val="184494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4985979" y="1152771"/>
            <a:ext cx="6366162" cy="846301"/>
          </a:xfrm>
        </p:spPr>
        <p:txBody>
          <a:bodyPr>
            <a:normAutofit/>
          </a:bodyPr>
          <a:lstStyle/>
          <a:p>
            <a:r>
              <a:rPr lang="en-US" sz="3200" dirty="0">
                <a:latin typeface="Helvetica" panose="020B0604020202020204" pitchFamily="34" charset="0"/>
                <a:cs typeface="Helvetica" panose="020B0604020202020204" pitchFamily="34" charset="0"/>
              </a:rPr>
              <a:t>Target Users</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4987636" y="2798939"/>
            <a:ext cx="6366163" cy="2531597"/>
          </a:xfrm>
        </p:spPr>
        <p:txBody>
          <a:bodyPr>
            <a:normAutofit/>
          </a:bodyPr>
          <a:lstStyle/>
          <a:p>
            <a:r>
              <a:rPr lang="en-US" sz="1800" dirty="0">
                <a:latin typeface="Helvetica" panose="020B0604020202020204" pitchFamily="34" charset="0"/>
                <a:cs typeface="Helvetica" panose="020B0604020202020204" pitchFamily="34" charset="0"/>
              </a:rPr>
              <a:t>Finance managers, store managers, and pricing analysts who need early warnings about margin drops so they can adjust prices, review discounts, or update cost information.</a:t>
            </a:r>
            <a:endParaRPr lang="en-US" sz="1800" noProof="1">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69393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latin typeface="Helvetica" panose="020B0604020202020204" pitchFamily="34" charset="0"/>
                <a:cs typeface="Helvetica" panose="020B0604020202020204" pitchFamily="34" charset="0"/>
              </a:rPr>
              <a:t>Project Goals</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3" y="2830586"/>
            <a:ext cx="2882475" cy="716612"/>
          </a:xfrm>
        </p:spPr>
        <p:txBody>
          <a:bodyPr vert="horz" lIns="91440" tIns="45720" rIns="91440" bIns="45720" rtlCol="0" anchor="t">
            <a:normAutofit/>
          </a:bodyPr>
          <a:lstStyle/>
          <a:p>
            <a:r>
              <a:rPr lang="en-US" sz="1600" dirty="0">
                <a:latin typeface="Helvetica" panose="020B0604020202020204" pitchFamily="34" charset="0"/>
                <a:cs typeface="Helvetica" panose="020B0604020202020204" pitchFamily="34" charset="0"/>
              </a:rPr>
              <a:t>Calculate profit margins in real time</a:t>
            </a:r>
            <a:endParaRPr lang="en-US" sz="1600" noProof="1">
              <a:latin typeface="Helvetica" panose="020B0604020202020204" pitchFamily="34" charset="0"/>
              <a:cs typeface="Helvetica" panose="020B0604020202020204" pitchFamily="34" charset="0"/>
            </a:endParaRP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4" y="2820195"/>
            <a:ext cx="2896671" cy="716612"/>
          </a:xfrm>
        </p:spPr>
        <p:txBody>
          <a:bodyPr>
            <a:noAutofit/>
          </a:bodyPr>
          <a:lstStyle/>
          <a:p>
            <a:r>
              <a:rPr lang="en-US" sz="1600" dirty="0">
                <a:latin typeface="Helvetica" panose="020B0604020202020204" pitchFamily="34" charset="0"/>
                <a:cs typeface="Helvetica" panose="020B0604020202020204" pitchFamily="34" charset="0"/>
              </a:rPr>
              <a:t>Detect and alert when margins fall below set thresholds</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2884235"/>
            <a:ext cx="2882475" cy="716613"/>
          </a:xfrm>
        </p:spPr>
        <p:txBody>
          <a:bodyPr>
            <a:normAutofit/>
          </a:bodyPr>
          <a:lstStyle/>
          <a:p>
            <a:r>
              <a:rPr lang="en-US" sz="1600" dirty="0">
                <a:latin typeface="Helvetica" panose="020B0604020202020204" pitchFamily="34" charset="0"/>
                <a:cs typeface="Helvetica" panose="020B0604020202020204" pitchFamily="34" charset="0"/>
              </a:rPr>
              <a:t>Log alerts with reasons for easy investigation</a:t>
            </a:r>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latin typeface="Helvetica" panose="020B0604020202020204" pitchFamily="34" charset="0"/>
                <a:cs typeface="Helvetica" panose="020B0604020202020204" pitchFamily="34" charset="0"/>
              </a:rPr>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latin typeface="Helvetica" panose="020B0604020202020204" pitchFamily="34" charset="0"/>
                <a:cs typeface="Helvetica" panose="020B0604020202020204" pitchFamily="34" charset="0"/>
              </a:rPr>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latin typeface="Helvetica" panose="020B0604020202020204" pitchFamily="34" charset="0"/>
                <a:cs typeface="Helvetica" panose="020B0604020202020204" pitchFamily="34" charset="0"/>
              </a:rPr>
              <a:pPr/>
              <a:t>5</a:t>
            </a:fld>
            <a:endParaRPr lang="en-US" dirty="0">
              <a:latin typeface="Helvetica" panose="020B0604020202020204" pitchFamily="34" charset="0"/>
              <a:cs typeface="Helvetica" panose="020B0604020202020204" pitchFamily="34" charset="0"/>
            </a:endParaRPr>
          </a:p>
        </p:txBody>
      </p:sp>
      <p:sp>
        <p:nvSpPr>
          <p:cNvPr id="18" name="Text Placeholder 7">
            <a:extLst>
              <a:ext uri="{FF2B5EF4-FFF2-40B4-BE49-F238E27FC236}">
                <a16:creationId xmlns:a16="http://schemas.microsoft.com/office/drawing/2014/main" id="{3BFB0ECA-640D-C823-1BA4-2A5AC53254E7}"/>
              </a:ext>
            </a:extLst>
          </p:cNvPr>
          <p:cNvSpPr txBox="1">
            <a:spLocks/>
          </p:cNvSpPr>
          <p:nvPr/>
        </p:nvSpPr>
        <p:spPr>
          <a:xfrm>
            <a:off x="2597362" y="4561609"/>
            <a:ext cx="2882475" cy="71661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Helvetica" panose="020B0604020202020204" pitchFamily="34" charset="0"/>
                <a:cs typeface="Helvetica" panose="020B0604020202020204" pitchFamily="34" charset="0"/>
              </a:rPr>
              <a:t>Track cost changes and link them to margin issues</a:t>
            </a:r>
          </a:p>
        </p:txBody>
      </p:sp>
      <p:sp>
        <p:nvSpPr>
          <p:cNvPr id="19" name="Text Placeholder 7">
            <a:extLst>
              <a:ext uri="{FF2B5EF4-FFF2-40B4-BE49-F238E27FC236}">
                <a16:creationId xmlns:a16="http://schemas.microsoft.com/office/drawing/2014/main" id="{0F276573-CA0E-D3E4-D512-E949B68F992E}"/>
              </a:ext>
            </a:extLst>
          </p:cNvPr>
          <p:cNvSpPr txBox="1">
            <a:spLocks/>
          </p:cNvSpPr>
          <p:nvPr/>
        </p:nvSpPr>
        <p:spPr>
          <a:xfrm>
            <a:off x="6712162" y="4561609"/>
            <a:ext cx="2882475" cy="71661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Helvetica" panose="020B0604020202020204" pitchFamily="34" charset="0"/>
                <a:cs typeface="Helvetica" panose="020B0604020202020204" pitchFamily="34" charset="0"/>
              </a:rPr>
              <a:t>Provide managers with clear information to support pricing decisions</a:t>
            </a:r>
          </a:p>
        </p:txBody>
      </p:sp>
    </p:spTree>
    <p:extLst>
      <p:ext uri="{BB962C8B-B14F-4D97-AF65-F5344CB8AC3E}">
        <p14:creationId xmlns:p14="http://schemas.microsoft.com/office/powerpoint/2010/main" val="2121178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a:normAutofit/>
          </a:bodyPr>
          <a:lstStyle/>
          <a:p>
            <a:r>
              <a:rPr lang="en-US" sz="3600" dirty="0">
                <a:latin typeface="Helvetica" panose="020B0604020202020204" pitchFamily="34" charset="0"/>
                <a:cs typeface="Helvetica" panose="020B0604020202020204" pitchFamily="34" charset="0"/>
              </a:rPr>
              <a:t>BI Potential</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2430066"/>
            <a:ext cx="7124700" cy="1997867"/>
          </a:xfrm>
        </p:spPr>
        <p:txBody>
          <a:bodyPr vert="horz" lIns="91440" tIns="45720" rIns="91440" bIns="45720" rtlCol="0" anchor="t">
            <a:normAutofit/>
          </a:bodyPr>
          <a:lstStyle/>
          <a:p>
            <a:r>
              <a:rPr lang="en-US" sz="1600" dirty="0">
                <a:latin typeface="Helvetica" panose="020B0604020202020204" pitchFamily="34" charset="0"/>
                <a:cs typeface="Helvetica" panose="020B0604020202020204" pitchFamily="34" charset="0"/>
              </a:rPr>
              <a:t>Analytics can show trends such as which products or branches consistently produce low margins. Dashboards can highlight discount patterns, cost spikes, and overall gross margin performance. This helps managers make informed decisions about pricing, promotions, and cost control.</a:t>
            </a:r>
          </a:p>
        </p:txBody>
      </p:sp>
    </p:spTree>
    <p:extLst>
      <p:ext uri="{BB962C8B-B14F-4D97-AF65-F5344CB8AC3E}">
        <p14:creationId xmlns:p14="http://schemas.microsoft.com/office/powerpoint/2010/main" val="4151694508"/>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39</TotalTime>
  <Words>211</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Helvetica</vt:lpstr>
      <vt:lpstr>Tenorite</vt:lpstr>
      <vt:lpstr>Monoline</vt:lpstr>
      <vt:lpstr>Profit Margin Monitoring System</vt:lpstr>
      <vt:lpstr>Problem Definition</vt:lpstr>
      <vt:lpstr>Context</vt:lpstr>
      <vt:lpstr>Target Users</vt:lpstr>
      <vt:lpstr>Project Goals</vt:lpstr>
      <vt:lpstr>BI Potential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Imani 1st</dc:creator>
  <cp:lastModifiedBy>Imani 1st</cp:lastModifiedBy>
  <cp:revision>1</cp:revision>
  <dcterms:created xsi:type="dcterms:W3CDTF">2025-11-27T07:58:03Z</dcterms:created>
  <dcterms:modified xsi:type="dcterms:W3CDTF">2025-11-27T08:37:50Z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